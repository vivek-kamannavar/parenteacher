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DAFD4-E0BB-47FE-A59B-436801426F82}" v="55" dt="2026-09-15T06:00:25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 K" userId="0258018735148712" providerId="LiveId" clId="{F52F3393-88B8-479F-9003-D6F925C789C2}"/>
    <pc:docChg chg="custSel addSld modSld">
      <pc:chgData name="Vivek M K" userId="0258018735148712" providerId="LiveId" clId="{F52F3393-88B8-479F-9003-D6F925C789C2}" dt="2026-09-15T17:27:18.774" v="106" actId="20577"/>
      <pc:docMkLst>
        <pc:docMk/>
      </pc:docMkLst>
      <pc:sldChg chg="modTransition">
        <pc:chgData name="Vivek M K" userId="0258018735148712" providerId="LiveId" clId="{F52F3393-88B8-479F-9003-D6F925C789C2}" dt="2026-09-15T06:00:25.664" v="87"/>
        <pc:sldMkLst>
          <pc:docMk/>
          <pc:sldMk cId="0" sldId="256"/>
        </pc:sldMkLst>
      </pc:sldChg>
      <pc:sldChg chg="modSp mod modTransition">
        <pc:chgData name="Vivek M K" userId="0258018735148712" providerId="LiveId" clId="{F52F3393-88B8-479F-9003-D6F925C789C2}" dt="2026-09-15T17:27:18.774" v="106" actId="20577"/>
        <pc:sldMkLst>
          <pc:docMk/>
          <pc:sldMk cId="0" sldId="257"/>
        </pc:sldMkLst>
        <pc:spChg chg="mod">
          <ac:chgData name="Vivek M K" userId="0258018735148712" providerId="LiveId" clId="{F52F3393-88B8-479F-9003-D6F925C789C2}" dt="2026-09-15T17:27:18.774" v="106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Transition">
        <pc:chgData name="Vivek M K" userId="0258018735148712" providerId="LiveId" clId="{F52F3393-88B8-479F-9003-D6F925C789C2}" dt="2026-09-15T05:59:13.381" v="51"/>
        <pc:sldMkLst>
          <pc:docMk/>
          <pc:sldMk cId="0" sldId="258"/>
        </pc:sldMkLst>
      </pc:sldChg>
      <pc:sldChg chg="modTransition">
        <pc:chgData name="Vivek M K" userId="0258018735148712" providerId="LiveId" clId="{F52F3393-88B8-479F-9003-D6F925C789C2}" dt="2026-09-15T05:59:16.324" v="52"/>
        <pc:sldMkLst>
          <pc:docMk/>
          <pc:sldMk cId="0" sldId="259"/>
        </pc:sldMkLst>
      </pc:sldChg>
      <pc:sldChg chg="modTransition">
        <pc:chgData name="Vivek M K" userId="0258018735148712" providerId="LiveId" clId="{F52F3393-88B8-479F-9003-D6F925C789C2}" dt="2026-09-15T05:59:20.659" v="53"/>
        <pc:sldMkLst>
          <pc:docMk/>
          <pc:sldMk cId="0" sldId="260"/>
        </pc:sldMkLst>
      </pc:sldChg>
      <pc:sldChg chg="modTransition">
        <pc:chgData name="Vivek M K" userId="0258018735148712" providerId="LiveId" clId="{F52F3393-88B8-479F-9003-D6F925C789C2}" dt="2026-09-15T05:59:23.980" v="54"/>
        <pc:sldMkLst>
          <pc:docMk/>
          <pc:sldMk cId="0" sldId="261"/>
        </pc:sldMkLst>
      </pc:sldChg>
      <pc:sldChg chg="addSp delSp modSp new mod modTransition">
        <pc:chgData name="Vivek M K" userId="0258018735148712" providerId="LiveId" clId="{F52F3393-88B8-479F-9003-D6F925C789C2}" dt="2026-09-15T06:03:21.072" v="91" actId="931"/>
        <pc:sldMkLst>
          <pc:docMk/>
          <pc:sldMk cId="3864951840" sldId="262"/>
        </pc:sldMkLst>
        <pc:spChg chg="add del mod">
          <ac:chgData name="Vivek M K" userId="0258018735148712" providerId="LiveId" clId="{F52F3393-88B8-479F-9003-D6F925C789C2}" dt="2026-09-15T06:01:27.415" v="90" actId="478"/>
          <ac:spMkLst>
            <pc:docMk/>
            <pc:sldMk cId="3864951840" sldId="262"/>
            <ac:spMk id="4" creationId="{FD7E4A0F-C5C0-13C6-F137-52143EDC1CF8}"/>
          </ac:spMkLst>
        </pc:spChg>
        <pc:picChg chg="add del mod">
          <ac:chgData name="Vivek M K" userId="0258018735148712" providerId="LiveId" clId="{F52F3393-88B8-479F-9003-D6F925C789C2}" dt="2026-09-15T06:01:19.507" v="88" actId="478"/>
          <ac:picMkLst>
            <pc:docMk/>
            <pc:sldMk cId="3864951840" sldId="262"/>
            <ac:picMk id="3" creationId="{91F73CBB-0216-5700-5D26-B288F6ABEC23}"/>
          </ac:picMkLst>
        </pc:picChg>
        <pc:picChg chg="add mod">
          <ac:chgData name="Vivek M K" userId="0258018735148712" providerId="LiveId" clId="{F52F3393-88B8-479F-9003-D6F925C789C2}" dt="2026-09-15T06:03:21.072" v="91" actId="931"/>
          <ac:picMkLst>
            <pc:docMk/>
            <pc:sldMk cId="3864951840" sldId="262"/>
            <ac:picMk id="6" creationId="{8A3D58D4-FEA3-173A-E563-126BCF9CFD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4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</a:rPr>
              <a:t>MERN STACK ACADEMIC PLATFORM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ParenTeacher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Bridging the Gap Between Parents, Educators &amp; Institutional Administration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3209544" cy="2103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42900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Digital Admission Workflow
</a:t>
            </a:r>
            <a:r>
              <a:rPr lang="en-US" sz="1050" dirty="0">
                <a:solidFill>
                  <a:srgbClr val="CBD5E1"/>
                </a:solidFill>
              </a:rPr>
              <a:t>3-Step paperless enrollment, verification of PUC/SSLC credentials, and institutional UUCMS/Roll No. auto-allocation.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9704" y="3200400"/>
            <a:ext cx="3209544" cy="2103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342900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Real-Time Academic Hub
</a:t>
            </a:r>
            <a:r>
              <a:rPr lang="en-US" sz="1050" dirty="0">
                <a:solidFill>
                  <a:srgbClr val="CBD5E1"/>
                </a:solidFill>
              </a:rPr>
              <a:t>Subject-wise &amp; bulk attendance tracking, early shortage (&lt;75%) warnings, and multi-term assessment gradebooks.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3200400"/>
            <a:ext cx="3209544" cy="2103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342900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Transparent Parent Portal
</a:t>
            </a:r>
            <a:r>
              <a:rPr lang="en-US" sz="1050" dirty="0">
                <a:solidFill>
                  <a:srgbClr val="CBD5E1"/>
                </a:solidFill>
              </a:rPr>
              <a:t>Single-window lookup via Mobile or UUCMS, disciplinary logs, behavior tracking, and campus circular broadcasts.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Core Technologies: React 19 • Vite • Node.js • Express.js • MongoDB • Multer • Nodemailer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PROBLEM &amp; PURPOSE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Bridging Educational Gaps: Problem Statement &amp; Proposed Solution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2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461772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91B1B"/>
                </a:solidFill>
              </a:rPr>
              <a:t>TRADITIONAL ACADEMIC CHALLENGES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• Severe Parent-Teacher Communication Gap
</a:t>
            </a:r>
            <a:r>
              <a:rPr lang="en-US" sz="1000" dirty="0">
                <a:solidFill>
                  <a:srgbClr val="7F1D1D"/>
                </a:solidFill>
              </a:rPr>
              <a:t>Parents typically discover attendance shortages or failing internal test scores only during final exams when corrective action is no longer possible.
</a:t>
            </a:r>
            <a:r>
              <a:rPr lang="en-US" sz="1150" b="1" dirty="0">
                <a:solidFill>
                  <a:srgbClr val="991B1B"/>
                </a:solidFill>
              </a:rPr>
              <a:t>• Tedious, Paper-Heavy Admission Procedures
</a:t>
            </a:r>
            <a:r>
              <a:rPr lang="en-US" sz="1000" dirty="0">
                <a:solidFill>
                  <a:srgbClr val="7F1D1D"/>
                </a:solidFill>
              </a:rPr>
              <a:t>Physical queues, physical document submission, manual PUC/SSLC verification, and manual roll/UUCMS number assignments cause weeks of administrative delays.
</a:t>
            </a:r>
            <a:r>
              <a:rPr lang="en-US" sz="1150" b="1" dirty="0">
                <a:solidFill>
                  <a:srgbClr val="991B1B"/>
                </a:solidFill>
              </a:rPr>
              <a:t>• Fragmented &amp; Disconnected Student Records
</a:t>
            </a:r>
            <a:r>
              <a:rPr lang="en-US" sz="1000" dirty="0">
                <a:solidFill>
                  <a:srgbClr val="7F1D1D"/>
                </a:solidFill>
              </a:rPr>
              <a:t>Attendance registers, marks sheets, conduct remarks, and disciplinary issues remain isolated without a central source of truth.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36792" y="1554480"/>
            <a:ext cx="5120640" cy="4617720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6534"/>
                </a:solidFill>
              </a:rPr>
              <a:t>THE PARENTEACHER SOLUTION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1112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✓ 100% Digital Admission &amp; Auto-Allocation
</a:t>
            </a:r>
            <a:r>
              <a:rPr lang="en-US" sz="1000" dirty="0">
                <a:solidFill>
                  <a:srgbClr val="14532D"/>
                </a:solidFill>
              </a:rPr>
              <a:t>Streamlined 3-step digital registration with document upload (PUC/SSLC, Aadhaar, Caste/Income) and instant admin review with UUCMS assignment.
</a:t>
            </a:r>
            <a:r>
              <a:rPr lang="en-US" sz="1150" b="1" dirty="0">
                <a:solidFill>
                  <a:srgbClr val="166534"/>
                </a:solidFill>
              </a:rPr>
              <a:t>✓ Single-Window Transparency for Parents
</a:t>
            </a:r>
            <a:r>
              <a:rPr lang="en-US" sz="1000" dirty="0">
                <a:solidFill>
                  <a:srgbClr val="14532D"/>
                </a:solidFill>
              </a:rPr>
              <a:t>Frictionless lookup using UUCMS No, Roll No, or Mobile to inspect complete attendance %, internal grades, and teacher conduct remarks.
</a:t>
            </a:r>
            <a:r>
              <a:rPr lang="en-US" sz="1150" b="1" dirty="0">
                <a:solidFill>
                  <a:srgbClr val="166534"/>
                </a:solidFill>
              </a:rPr>
              <a:t>✓ Proactive Early Warnings &amp; Bulk Faculty Tools
</a:t>
            </a:r>
            <a:r>
              <a:rPr lang="en-US" sz="1000" dirty="0">
                <a:solidFill>
                  <a:srgbClr val="14532D"/>
                </a:solidFill>
              </a:rPr>
              <a:t>Automated attendance calculation flagging shortages (&lt;75%) instantly, accompanied by automated email </a:t>
            </a:r>
            <a:r>
              <a:rPr lang="en-US" sz="1000">
                <a:solidFill>
                  <a:srgbClr val="14532D"/>
                </a:solidFill>
              </a:rPr>
              <a:t>notifications .</a:t>
            </a:r>
            <a:endParaRPr lang="en-US" sz="1150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System Architecture &amp; Modern Full-Stack Technology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3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83080"/>
            <a:ext cx="2075688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0AF"/>
                </a:solidFill>
              </a:rPr>
              <a:t>REACT 19 &amp; VITE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Frontend 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Dual Specialized Portals
</a:t>
            </a:r>
            <a:r>
              <a:rPr lang="en-US" sz="920" dirty="0">
                <a:solidFill>
                  <a:srgbClr val="475569"/>
                </a:solidFill>
              </a:rPr>
              <a:t>Dedicated Teacher &amp; Parent responsive interfaces.
</a:t>
            </a:r>
            <a:r>
              <a:rPr lang="en-US" sz="1000" b="1" dirty="0">
                <a:solidFill>
                  <a:srgbClr val="0F172A"/>
                </a:solidFill>
              </a:rPr>
              <a:t>• Multi-Step Forms
</a:t>
            </a:r>
            <a:r>
              <a:rPr lang="en-US" sz="920" dirty="0">
                <a:solidFill>
                  <a:srgbClr val="475569"/>
                </a:solidFill>
              </a:rPr>
              <a:t>Step-by-step admission with live previews.
</a:t>
            </a:r>
            <a:r>
              <a:rPr lang="en-US" sz="1000" b="1" dirty="0">
                <a:solidFill>
                  <a:srgbClr val="0F172A"/>
                </a:solidFill>
              </a:rPr>
              <a:t>• Live Gradebook
</a:t>
            </a:r>
            <a:r>
              <a:rPr lang="en-US" sz="920" dirty="0">
                <a:solidFill>
                  <a:srgbClr val="475569"/>
                </a:solidFill>
              </a:rPr>
              <a:t>Dynamic attendance &amp; marks calculation.
</a:t>
            </a:r>
            <a:r>
              <a:rPr lang="en-US" sz="1000" b="1" dirty="0">
                <a:solidFill>
                  <a:srgbClr val="0F172A"/>
                </a:solidFill>
              </a:rPr>
              <a:t>• Lightning Fast
</a:t>
            </a:r>
            <a:r>
              <a:rPr lang="en-US" sz="920" dirty="0">
                <a:solidFill>
                  <a:srgbClr val="475569"/>
                </a:solidFill>
              </a:rPr>
              <a:t>Vite HMR &amp; optimized client-side state.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008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88" y="1783080"/>
            <a:ext cx="2075688" cy="29260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3675888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</a:rPr>
              <a:t>NODE &amp; EXPRESS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75888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Backend API Tier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21608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Modular REST Endpoints
</a:t>
            </a:r>
            <a:r>
              <a:rPr lang="en-US" sz="920" dirty="0">
                <a:solidFill>
                  <a:srgbClr val="475569"/>
                </a:solidFill>
              </a:rPr>
              <a:t>Clean separation of admission &amp; record routes.
</a:t>
            </a:r>
            <a:r>
              <a:rPr lang="en-US" sz="1000" b="1" dirty="0">
                <a:solidFill>
                  <a:srgbClr val="0F172A"/>
                </a:solidFill>
              </a:rPr>
              <a:t>• Multer Document Pipeline
</a:t>
            </a:r>
            <a:r>
              <a:rPr lang="en-US" sz="920" dirty="0">
                <a:solidFill>
                  <a:srgbClr val="475569"/>
                </a:solidFill>
              </a:rPr>
              <a:t>Secure multipart file upload &amp; validation.
</a:t>
            </a:r>
            <a:r>
              <a:rPr lang="en-US" sz="1000" b="1" dirty="0">
                <a:solidFill>
                  <a:srgbClr val="0F172A"/>
                </a:solidFill>
              </a:rPr>
              <a:t>• Bcrypt Encryption
</a:t>
            </a:r>
            <a:r>
              <a:rPr lang="en-US" sz="920" dirty="0">
                <a:solidFill>
                  <a:srgbClr val="475569"/>
                </a:solidFill>
              </a:rPr>
              <a:t>Secure password hashing &amp; RBAC policies.
</a:t>
            </a:r>
            <a:r>
              <a:rPr lang="en-US" sz="1000" b="1" dirty="0">
                <a:solidFill>
                  <a:srgbClr val="0F172A"/>
                </a:solidFill>
              </a:rPr>
              <a:t>• Offline Fallbacks
</a:t>
            </a:r>
            <a:r>
              <a:rPr lang="en-US" sz="920" dirty="0">
                <a:solidFill>
                  <a:srgbClr val="475569"/>
                </a:solidFill>
              </a:rPr>
              <a:t>Graceful database service degradation.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783080"/>
            <a:ext cx="2075688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MONGODB &amp; MONGOOSE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37376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Database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83096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Structured Collections
</a:t>
            </a:r>
            <a:r>
              <a:rPr lang="en-US" sz="920" dirty="0">
                <a:solidFill>
                  <a:srgbClr val="475569"/>
                </a:solidFill>
              </a:rPr>
              <a:t>Admissions, Attendance, Marks, Behaviors.
</a:t>
            </a:r>
            <a:r>
              <a:rPr lang="en-US" sz="1000" b="1" dirty="0">
                <a:solidFill>
                  <a:srgbClr val="0F172A"/>
                </a:solidFill>
              </a:rPr>
              <a:t>• Dynamic Aggregation
</a:t>
            </a:r>
            <a:r>
              <a:rPr lang="en-US" sz="920" dirty="0">
                <a:solidFill>
                  <a:srgbClr val="475569"/>
                </a:solidFill>
              </a:rPr>
              <a:t>Aggregated student info across 5 collections.
</a:t>
            </a:r>
            <a:r>
              <a:rPr lang="en-US" sz="1000" b="1" dirty="0">
                <a:solidFill>
                  <a:srgbClr val="0F172A"/>
                </a:solidFill>
              </a:rPr>
              <a:t>• Schema Validation
</a:t>
            </a:r>
            <a:r>
              <a:rPr lang="en-US" sz="920" dirty="0">
                <a:solidFill>
                  <a:srgbClr val="475569"/>
                </a:solidFill>
              </a:rPr>
              <a:t>Aadhaar (12-digit) &amp; Phone (10-digit) regex.
</a:t>
            </a:r>
            <a:r>
              <a:rPr lang="en-US" sz="1000" b="1" dirty="0">
                <a:solidFill>
                  <a:srgbClr val="0F172A"/>
                </a:solidFill>
              </a:rPr>
              <a:t>• Audit Trails
</a:t>
            </a:r>
            <a:r>
              <a:rPr lang="en-US" sz="920" dirty="0">
                <a:solidFill>
                  <a:srgbClr val="475569"/>
                </a:solidFill>
              </a:rPr>
              <a:t>Timestamped records for accountability.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15984" y="1554480"/>
            <a:ext cx="2441448" cy="4617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8864" y="1783080"/>
            <a:ext cx="2075688" cy="292608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98864" y="178308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21A8"/>
                </a:solidFill>
              </a:rPr>
              <a:t>SECURITY &amp; ALERTS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98864" y="2176272"/>
            <a:ext cx="207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Services &amp; Security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44584" y="2606040"/>
            <a:ext cx="19842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98864" y="2724912"/>
            <a:ext cx="207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Nodemailer Pipeline
</a:t>
            </a:r>
            <a:r>
              <a:rPr lang="en-US" sz="920" dirty="0">
                <a:solidFill>
                  <a:srgbClr val="475569"/>
                </a:solidFill>
              </a:rPr>
              <a:t>Automated email alerts for approvals &amp; shortages.
</a:t>
            </a:r>
            <a:r>
              <a:rPr lang="en-US" sz="1000" b="1" dirty="0">
                <a:solidFill>
                  <a:srgbClr val="0F172A"/>
                </a:solidFill>
              </a:rPr>
              <a:t>• SMS Notification Service
</a:t>
            </a:r>
            <a:r>
              <a:rPr lang="en-US" sz="920" dirty="0">
                <a:solidFill>
                  <a:srgbClr val="475569"/>
                </a:solidFill>
              </a:rPr>
              <a:t>SMS delivery dispatcher and logging.
</a:t>
            </a:r>
            <a:r>
              <a:rPr lang="en-US" sz="1000" b="1" dirty="0">
                <a:solidFill>
                  <a:srgbClr val="0F172A"/>
                </a:solidFill>
              </a:rPr>
              <a:t>• Role-Based Access (RBAC)
</a:t>
            </a:r>
            <a:r>
              <a:rPr lang="en-US" sz="920" dirty="0">
                <a:solidFill>
                  <a:srgbClr val="475569"/>
                </a:solidFill>
              </a:rPr>
              <a:t>Strict boundaries for Admins vs Parents.
</a:t>
            </a:r>
            <a:r>
              <a:rPr lang="en-US" sz="1000" b="1" dirty="0">
                <a:solidFill>
                  <a:srgbClr val="0F172A"/>
                </a:solidFill>
              </a:rPr>
              <a:t>• OTP Verification
</a:t>
            </a:r>
            <a:r>
              <a:rPr lang="en-US" sz="920" dirty="0">
                <a:solidFill>
                  <a:srgbClr val="475569"/>
                </a:solidFill>
              </a:rPr>
              <a:t>Secure parent onboarding &amp; credentials.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Core Platform Capabilities &amp; Functional Modules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4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01  </a:t>
            </a:r>
            <a:r>
              <a:rPr lang="en-US" sz="1150" b="1" dirty="0">
                <a:solidFill>
                  <a:srgbClr val="0F172A"/>
                </a:solidFill>
              </a:rPr>
              <a:t>Digital Admissions Engine
</a:t>
            </a:r>
            <a:r>
              <a:rPr lang="en-US" sz="950" dirty="0">
                <a:solidFill>
                  <a:srgbClr val="475569"/>
                </a:solidFill>
              </a:rPr>
              <a:t>3-Step applicant form capturing personal, academic (PUC/SSLC State vs. CBSE), and verified certificate uploads. Administrators review, approve/reject with remarks, and allocate official UUCMS &amp; Roll numbers.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73736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02  </a:t>
            </a:r>
            <a:r>
              <a:rPr lang="en-US" sz="1150" b="1" dirty="0">
                <a:solidFill>
                  <a:srgbClr val="0F172A"/>
                </a:solidFill>
              </a:rPr>
              <a:t>Subject-Wise &amp; Bulk Attendance
</a:t>
            </a:r>
            <a:r>
              <a:rPr lang="en-US" sz="950" dirty="0">
                <a:solidFill>
                  <a:srgbClr val="475569"/>
                </a:solidFill>
              </a:rPr>
              <a:t>Enables faculty to log individual or class-wide attendance in seconds. The system dynamically computes percentages and flags students with &lt;75% attendance to prevent hall-ticket cancellation.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155448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73736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03  </a:t>
            </a:r>
            <a:r>
              <a:rPr lang="en-US" sz="1150" b="1" dirty="0">
                <a:solidFill>
                  <a:srgbClr val="0F172A"/>
                </a:solidFill>
              </a:rPr>
              <a:t>Internal Assessments &amp; Exams
</a:t>
            </a:r>
            <a:r>
              <a:rPr lang="en-US" sz="950" dirty="0">
                <a:solidFill>
                  <a:srgbClr val="475569"/>
                </a:solidFill>
              </a:rPr>
              <a:t>Structured grading console supporting IA-1, IA-2, IA-3, and Semester End examinations. Automatically calculates percentages, pass/fail status, and qualitative feedback per subject.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0624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04  </a:t>
            </a:r>
            <a:r>
              <a:rPr lang="en-US" sz="1150" b="1" dirty="0">
                <a:solidFill>
                  <a:srgbClr val="0F172A"/>
                </a:solidFill>
              </a:rPr>
              <a:t>Behavior &amp; Conduct Tracking
</a:t>
            </a:r>
            <a:r>
              <a:rPr lang="en-US" sz="950" dirty="0">
                <a:solidFill>
                  <a:srgbClr val="475569"/>
                </a:solidFill>
              </a:rPr>
              <a:t>5-Point behavioral rating scale (Excellent to Disruptive) and disciplinary complaint filing with severity classifications (Low/Med/High) and audit logs accessible directly to parents.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25696" y="402336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420624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05  </a:t>
            </a:r>
            <a:r>
              <a:rPr lang="en-US" sz="1150" b="1" dirty="0">
                <a:solidFill>
                  <a:srgbClr val="0F172A"/>
                </a:solidFill>
              </a:rPr>
              <a:t>Circulars &amp; Event Broadcaster
</a:t>
            </a:r>
            <a:r>
              <a:rPr lang="en-US" sz="950" dirty="0">
                <a:solidFill>
                  <a:srgbClr val="475569"/>
                </a:solidFill>
              </a:rPr>
              <a:t>Broadcasts institutional circulars, hackathons, sports tournaments, gaming events, and academic fests targeted by student stream (Science/Commerce/Arts) or to individual students.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19872" y="4023360"/>
            <a:ext cx="3328416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4206240"/>
            <a:ext cx="28712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06  </a:t>
            </a:r>
            <a:r>
              <a:rPr lang="en-US" sz="1150" b="1" dirty="0">
                <a:solidFill>
                  <a:srgbClr val="0F172A"/>
                </a:solidFill>
              </a:rPr>
              <a:t>Multi-Channel Alert Dispatcher
</a:t>
            </a:r>
            <a:r>
              <a:rPr lang="en-US" sz="950" dirty="0">
                <a:solidFill>
                  <a:srgbClr val="475569"/>
                </a:solidFill>
              </a:rPr>
              <a:t>Integrated Nodemailer email engine and SMS logging triggering immediate parent notifications for admission acceptance, severe attendance shortages, and urgent campus announcements.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USER JOURNEYS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Two Specialized Experiences: Portals &amp; Workflows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5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4617720"/>
          </a:xfrm>
          <a:prstGeom prst="rect">
            <a:avLst/>
          </a:prstGeom>
          <a:solidFill>
            <a:srgbClr val="FFFFFF"/>
          </a:solidFill>
          <a:ln w="1778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FACULTY &amp; ADMINISTRATOR WORKFLOW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</a:rPr>
              <a:t>1. Admission Review &amp; UUCMS Assignment
</a:t>
            </a:r>
            <a:r>
              <a:rPr lang="en-US" sz="980" dirty="0">
                <a:solidFill>
                  <a:srgbClr val="475569"/>
                </a:solidFill>
              </a:rPr>
              <a:t>Examine applicant certificates (PUC/SSLC, Aadhaar, Income), verify eligibility, approve/reject with remarks, and allocate official UUCMS &amp; Roll Numbers.
</a:t>
            </a:r>
            <a:r>
              <a:rPr lang="en-US" sz="1100" b="1" dirty="0">
                <a:solidFill>
                  <a:srgbClr val="1E3A8A"/>
                </a:solidFill>
              </a:rPr>
              <a:t>2. Daily Classroom Attendance
</a:t>
            </a:r>
            <a:r>
              <a:rPr lang="en-US" sz="980" dirty="0">
                <a:solidFill>
                  <a:srgbClr val="475569"/>
                </a:solidFill>
              </a:rPr>
              <a:t>Perform single-click bulk attendance updates for daily subject lectures. System automatically flags students below 75% attendance.
</a:t>
            </a:r>
            <a:r>
              <a:rPr lang="en-US" sz="1100" b="1" dirty="0">
                <a:solidFill>
                  <a:srgbClr val="1E3A8A"/>
                </a:solidFill>
              </a:rPr>
              <a:t>3. Examination &amp; Assessment Entry
</a:t>
            </a:r>
            <a:r>
              <a:rPr lang="en-US" sz="980" dirty="0">
                <a:solidFill>
                  <a:srgbClr val="475569"/>
                </a:solidFill>
              </a:rPr>
              <a:t>Enter IA-1, IA-2, IA-3, and Semester-End marks with automated percentage, Pass/Fail status calculation, and qualitative feedback.
</a:t>
            </a:r>
            <a:r>
              <a:rPr lang="en-US" sz="1100" b="1" dirty="0">
                <a:solidFill>
                  <a:srgbClr val="1E3A8A"/>
                </a:solidFill>
              </a:rPr>
              <a:t>4. Student Welfare &amp; Event Notices
</a:t>
            </a:r>
            <a:r>
              <a:rPr lang="en-US" sz="980" dirty="0">
                <a:solidFill>
                  <a:srgbClr val="475569"/>
                </a:solidFill>
              </a:rPr>
              <a:t>Log student conduct ratings, issue disciplinary complaints, and publish campus circulars for hackathons and sports fests.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1554480"/>
            <a:ext cx="5120640" cy="4617720"/>
          </a:xfrm>
          <a:prstGeom prst="rect">
            <a:avLst/>
          </a:prstGeom>
          <a:solidFill>
            <a:srgbClr val="FFFFFF"/>
          </a:solidFill>
          <a:ln w="17780">
            <a:solidFill>
              <a:srgbClr val="CCFB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PARENT &amp; STUDENT PORTAL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2331720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1. Online Application &amp; Status Tracking
</a:t>
            </a:r>
            <a:r>
              <a:rPr lang="en-US" sz="980" dirty="0">
                <a:solidFill>
                  <a:srgbClr val="475569"/>
                </a:solidFill>
              </a:rPr>
              <a:t>Apply for admission online with document upload; track real-time application review progress using Aadhaar, Phone, or Application ID.
</a:t>
            </a:r>
            <a:r>
              <a:rPr lang="en-US" sz="1100" b="1" dirty="0">
                <a:solidFill>
                  <a:srgbClr val="0D9488"/>
                </a:solidFill>
              </a:rPr>
              <a:t>2. Single-Window Student Profile Lookup
</a:t>
            </a:r>
            <a:r>
              <a:rPr lang="en-US" sz="980" dirty="0">
                <a:solidFill>
                  <a:srgbClr val="475569"/>
                </a:solidFill>
              </a:rPr>
              <a:t>Instantly view student details using UUCMS No, Roll No, or Mobile without the hassle of complex credentials or portal passwords.
</a:t>
            </a:r>
            <a:r>
              <a:rPr lang="en-US" sz="1100" b="1" dirty="0">
                <a:solidFill>
                  <a:srgbClr val="0D9488"/>
                </a:solidFill>
              </a:rPr>
              <a:t>3. Real-Time Academic Transparency
</a:t>
            </a:r>
            <a:r>
              <a:rPr lang="en-US" sz="980" dirty="0">
                <a:solidFill>
                  <a:srgbClr val="475569"/>
                </a:solidFill>
              </a:rPr>
              <a:t>Monitor overall attendance percentage, subject-wise breakdown, internal test scores, and teacher remarks anytime from home.
</a:t>
            </a:r>
            <a:r>
              <a:rPr lang="en-US" sz="1100" b="1" dirty="0">
                <a:solidFill>
                  <a:srgbClr val="0D9488"/>
                </a:solidFill>
              </a:rPr>
              <a:t>4. Immediate Notifications &amp; Campus Updates
</a:t>
            </a:r>
            <a:r>
              <a:rPr lang="en-US" sz="980" dirty="0">
                <a:solidFill>
                  <a:srgbClr val="475569"/>
                </a:solidFill>
              </a:rPr>
              <a:t>Receive automated alerts for attendance shortages, disciplinary notices, and college-wide hackathon/cultural invitations.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IMPACT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Project Impact, Key Value &amp; Future Roadmap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— Integrated Student Lifecycle &amp; Parent-Teacher Collaboration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0" y="644652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Slide 6 of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328416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100%
</a:t>
            </a:r>
            <a:r>
              <a:rPr lang="en-US" sz="1100" b="1" dirty="0">
                <a:solidFill>
                  <a:srgbClr val="0F172A"/>
                </a:solidFill>
              </a:rPr>
              <a:t>Paperless Admission
</a:t>
            </a:r>
            <a:r>
              <a:rPr lang="en-US" sz="920" dirty="0">
                <a:solidFill>
                  <a:srgbClr val="475569"/>
                </a:solidFill>
              </a:rPr>
              <a:t>Eliminates paper forms, manual queues &amp; document loss with verified digital uploads.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3328416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916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75%
</a:t>
            </a:r>
            <a:r>
              <a:rPr lang="en-US" sz="1100" b="1" dirty="0">
                <a:solidFill>
                  <a:srgbClr val="0F172A"/>
                </a:solidFill>
              </a:rPr>
              <a:t>Attendance Safeguard
</a:t>
            </a:r>
            <a:r>
              <a:rPr lang="en-US" sz="920" dirty="0">
                <a:solidFill>
                  <a:srgbClr val="475569"/>
                </a:solidFill>
              </a:rPr>
              <a:t>Proactive shortage warnings ensure early parental intervention before final exams.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19872" y="1554480"/>
            <a:ext cx="3328416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6916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360°
</a:t>
            </a:r>
            <a:r>
              <a:rPr lang="en-US" sz="1100" b="1" dirty="0">
                <a:solidFill>
                  <a:srgbClr val="0F172A"/>
                </a:solidFill>
              </a:rPr>
              <a:t>Student Visibility
</a:t>
            </a:r>
            <a:r>
              <a:rPr lang="en-US" sz="920" dirty="0">
                <a:solidFill>
                  <a:srgbClr val="475569"/>
                </a:solidFill>
              </a:rPr>
              <a:t>Holistic dashboard uniting attendance, internal marks, behavior logs &amp; campus events.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</a:rPr>
              <a:t>FUTURE SYSTEM ENHANCEMENTS &amp; ROADMAP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Online Fee Gateway
</a:t>
            </a:r>
            <a:r>
              <a:rPr lang="en-US" sz="930" dirty="0">
                <a:solidFill>
                  <a:srgbClr val="475569"/>
                </a:solidFill>
              </a:rPr>
              <a:t>Integration of UPI &amp; NetBanking for direct tuition/admission fee payments with automated downloadable e-receipts.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75888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Academic Insights
</a:t>
            </a:r>
            <a:r>
              <a:rPr lang="en-US" sz="930" dirty="0">
                <a:solidFill>
                  <a:srgbClr val="475569"/>
                </a:solidFill>
              </a:rPr>
              <a:t>Predictive performance analytics highlighting individual subject weaknesses and recommending personalized study plans.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7376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37376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Native Mobile App
</a:t>
            </a:r>
            <a:r>
              <a:rPr lang="en-US" sz="930" dirty="0">
                <a:solidFill>
                  <a:srgbClr val="475569"/>
                </a:solidFill>
              </a:rPr>
              <a:t>Cross-platform React Native mobile application supporting biometric login and real-time push notifications.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15984" y="3794760"/>
            <a:ext cx="2441448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8864" y="3977640"/>
            <a:ext cx="100584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8864" y="3977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98864" y="438912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State Portal Sync
</a:t>
            </a:r>
            <a:r>
              <a:rPr lang="en-US" sz="930" dirty="0">
                <a:solidFill>
                  <a:srgbClr val="475569"/>
                </a:solidFill>
              </a:rPr>
              <a:t>Direct automated API synchronization with the Karnataka State UUCMS university educational database.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3D58D4-FEA3-173A-E563-126BCF9CF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51840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1265</Words>
  <Application>Microsoft Office PowerPoint</Application>
  <PresentationFormat>Widescreen</PresentationFormat>
  <Paragraphs>71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ParenTeacher Project Presentation</dc:title>
  <dc:subject>Integrated Student Lifecycle &amp; Parent-Teacher Collaboration Platform</dc:subject>
  <dc:creator>ParenTeacher Team</dc:creator>
  <cp:lastModifiedBy>Vivek M K</cp:lastModifiedBy>
  <cp:revision>1</cp:revision>
  <dcterms:created xsi:type="dcterms:W3CDTF">2026-09-15T05:50:23Z</dcterms:created>
  <dcterms:modified xsi:type="dcterms:W3CDTF">2026-09-15T17:27:22Z</dcterms:modified>
</cp:coreProperties>
</file>